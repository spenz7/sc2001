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embeddedFontLst>
    <p:embeddedFont>
      <p:font typeface="Neue Haas Grotesk Text Pro" panose="020B0504020202020204" pitchFamily="34" charset="0"/>
      <p:regular r:id="rId13"/>
      <p:bold r:id="rId14"/>
      <p:italic r:id="rId15"/>
    </p:embeddedFont>
    <p:embeddedFont>
      <p:font typeface="Open Sans" panose="020B0606030504020204" pitchFamily="34" charset="0"/>
      <p:regular r:id="rId16"/>
      <p:bold r:id="rId17"/>
      <p:italic r:id="rId18"/>
      <p:boldItalic r:id="rId19"/>
    </p:embeddedFont>
    <p:embeddedFont>
      <p:font typeface="Poppins" panose="00000500000000000000" pitchFamily="2"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DB4F1-6931-BA4B-2D8F-02C8ECF3C38E}" v="1" dt="2025-11-04T19:18:43.7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1" d="100"/>
          <a:sy n="101" d="100"/>
        </p:scale>
        <p:origin x="280" y="6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font" Target="fonts/font11.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font" Target="fonts/font10.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PENCER NG WEN XUAN#" userId="6df2b080-ec27-436b-a808-850b1027f4ae" providerId="ADAL" clId="{B72E2F99-7F2E-437E-9F68-01F2F10848F0}"/>
    <pc:docChg chg="modSld">
      <pc:chgData name="#SPENCER NG WEN XUAN#" userId="6df2b080-ec27-436b-a808-850b1027f4ae" providerId="ADAL" clId="{B72E2F99-7F2E-437E-9F68-01F2F10848F0}" dt="2025-11-05T15:39:06.534" v="15" actId="20577"/>
      <pc:docMkLst>
        <pc:docMk/>
      </pc:docMkLst>
      <pc:sldChg chg="modSp mod">
        <pc:chgData name="#SPENCER NG WEN XUAN#" userId="6df2b080-ec27-436b-a808-850b1027f4ae" providerId="ADAL" clId="{B72E2F99-7F2E-437E-9F68-01F2F10848F0}" dt="2025-11-05T15:39:06.534" v="15" actId="20577"/>
        <pc:sldMkLst>
          <pc:docMk/>
          <pc:sldMk cId="0" sldId="256"/>
        </pc:sldMkLst>
        <pc:spChg chg="mod">
          <ac:chgData name="#SPENCER NG WEN XUAN#" userId="6df2b080-ec27-436b-a808-850b1027f4ae" providerId="ADAL" clId="{B72E2F99-7F2E-437E-9F68-01F2F10848F0}" dt="2025-11-05T15:39:06.534" v="15" actId="20577"/>
          <ac:spMkLst>
            <pc:docMk/>
            <pc:sldMk cId="0" sldId="256"/>
            <ac:spMk id="6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11ccb1829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11ccb1829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11ccb1829c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11ccb1829c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11ccb1829c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11ccb1829c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11ccb1829c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11ccb1829c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GB" dirty="0"/>
              <a:t>Thanks Kai Xin. Now, I'll cover the recursive formula of the algorithm. For any given capacity C , there are 2 choices for each item:</a:t>
            </a:r>
            <a:br>
              <a:rPr lang="en-GB" dirty="0"/>
            </a:br>
            <a:r>
              <a:rPr lang="en-GB" dirty="0"/>
              <a:t>The first option is to include the item and add its profit to our solution. But we need to consider the remaining capacity C - </a:t>
            </a:r>
            <a:r>
              <a:rPr lang="en-GB" dirty="0" err="1"/>
              <a:t>wi</a:t>
            </a:r>
            <a:r>
              <a:rPr lang="en-GB" dirty="0"/>
              <a:t>. </a:t>
            </a:r>
            <a:r>
              <a:rPr lang="en-GB" dirty="0" err="1"/>
              <a:t>THe</a:t>
            </a:r>
            <a:r>
              <a:rPr lang="en-GB" dirty="0"/>
              <a:t> total profit then becomes pi + P(C-</a:t>
            </a:r>
            <a:r>
              <a:rPr lang="en-GB" dirty="0" err="1"/>
              <a:t>wi</a:t>
            </a:r>
            <a:r>
              <a:rPr lang="en-GB" dirty="0"/>
              <a:t>).</a:t>
            </a:r>
            <a:br>
              <a:rPr lang="en-GB" dirty="0"/>
            </a:br>
            <a:br>
              <a:rPr lang="en-GB" dirty="0"/>
            </a:br>
            <a:r>
              <a:rPr lang="en-GB" dirty="0"/>
              <a:t>The 2nd option is to skip the item and the profit remains unchanged.</a:t>
            </a:r>
            <a:br>
              <a:rPr lang="en-GB" dirty="0"/>
            </a:br>
            <a:r>
              <a:rPr lang="en-GB" dirty="0"/>
              <a:t>To find the optimal solution, we take the maximum value across all these choices</a:t>
            </a:r>
            <a:br>
              <a:rPr lang="en-GB" dirty="0"/>
            </a:br>
            <a:br>
              <a:rPr lang="en-GB" dirty="0"/>
            </a:br>
            <a:r>
              <a:rPr lang="en-GB" dirty="0"/>
              <a:t>Thus, P(C) = maximum of (P(C-</a:t>
            </a:r>
            <a:r>
              <a:rPr lang="en-GB" dirty="0" err="1"/>
              <a:t>wi</a:t>
            </a:r>
            <a:r>
              <a:rPr lang="en-GB" dirty="0"/>
              <a:t>) + pi ) for all </a:t>
            </a:r>
            <a:r>
              <a:rPr lang="en-GB" dirty="0" err="1"/>
              <a:t>i</a:t>
            </a:r>
            <a:r>
              <a:rPr lang="en-GB" dirty="0"/>
              <a:t> while </a:t>
            </a:r>
            <a:r>
              <a:rPr lang="en-GB" dirty="0" err="1"/>
              <a:t>wi</a:t>
            </a:r>
            <a:r>
              <a:rPr lang="en-GB" dirty="0"/>
              <a:t> is less than or equal to C,  and the base case is P(0) = 0.</a:t>
            </a:r>
            <a:br>
              <a:rPr lang="en-GB" dirty="0"/>
            </a:br>
            <a:br>
              <a:rPr lang="en-GB" dirty="0"/>
            </a:br>
            <a:r>
              <a:rPr lang="en-GB" dirty="0"/>
              <a:t>Now, let me pass the time over to Jun Meng to cover the subproblem graph for P(14) </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11ccb1829c_0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311ccb1829c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In the problem, we know that the capacity C of the knapsack is 14. The weights are 4, 6, 8 and the profits are 7, 6, 9. The subproblem graph is obtained using matplotlib. In the subproblem graph, each node represents a subproblem, and the number inside the bracket represents the capacity. </a:t>
            </a:r>
            <a:r>
              <a:rPr lang="en-GB" dirty="0">
                <a:solidFill>
                  <a:schemeClr val="dk1"/>
                </a:solidFill>
              </a:rPr>
              <a:t>Starting from the full capacity of 14, we move downward, subtracting weights and adding the corresponding profits. Each arrow between nodes represents a choice of adding a particular item to the knapsack. For </a:t>
            </a:r>
            <a:r>
              <a:rPr lang="en-GB" dirty="0" err="1">
                <a:solidFill>
                  <a:schemeClr val="dk1"/>
                </a:solidFill>
              </a:rPr>
              <a:t>eg</a:t>
            </a:r>
            <a:r>
              <a:rPr lang="en-GB" dirty="0">
                <a:solidFill>
                  <a:schemeClr val="dk1"/>
                </a:solidFill>
              </a:rPr>
              <a:t>, if we’re moving from P(14) to P(10), we’re adding corresponding profit 7 and subtracting 4 from the capacity. </a:t>
            </a:r>
            <a:endParaRPr dirty="0">
              <a:solidFill>
                <a:schemeClr val="dk1"/>
              </a:solidFill>
            </a:endParaRPr>
          </a:p>
          <a:p>
            <a:pPr marL="0" lvl="0" indent="0" algn="l" rtl="0">
              <a:spcBef>
                <a:spcPts val="0"/>
              </a:spcBef>
              <a:spcAft>
                <a:spcPts val="0"/>
              </a:spcAft>
              <a:buNone/>
            </a:pPr>
            <a:r>
              <a:rPr lang="en-GB" dirty="0">
                <a:solidFill>
                  <a:schemeClr val="dk1"/>
                </a:solidFill>
              </a:rPr>
              <a:t>These connections allow us to see every possible path to fill the knapsack, with each path representing a different combination of items. By exploring all paths, we identify the maximum profit we can achieve under the constraints.</a:t>
            </a:r>
            <a:endParaRPr dirty="0">
              <a:solidFill>
                <a:schemeClr val="dk1"/>
              </a:solidFill>
            </a:endParaRPr>
          </a:p>
          <a:p>
            <a:pPr marL="0" lvl="0" indent="0" algn="l" rtl="0">
              <a:spcBef>
                <a:spcPts val="0"/>
              </a:spcBef>
              <a:spcAft>
                <a:spcPts val="0"/>
              </a:spcAft>
              <a:buNone/>
            </a:pPr>
            <a:br>
              <a:rPr lang="en-GB" dirty="0"/>
            </a:br>
            <a:r>
              <a:rPr lang="en-GB" dirty="0"/>
              <a:t>The subproblem graph, as u can see, grows exponentially as there are paths branching out from each path. There are also multiple repeated subproblems, so if the problem was bigger, the process would be really tedious and computationally inefficient. Hence, there is a need to implement a dynamic programming algorithm, that can </a:t>
            </a:r>
            <a:r>
              <a:rPr lang="en-GB" dirty="0">
                <a:solidFill>
                  <a:schemeClr val="dk1"/>
                </a:solidFill>
              </a:rPr>
              <a:t>store and reuse the solutions to subproblems, thus avoiding redundant calculations.</a:t>
            </a: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311ccb1829c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311ccb1829c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a:solidFill>
                  <a:schemeClr val="dk1"/>
                </a:solidFill>
              </a:rPr>
              <a:t>dp [ ] array stores the maximum profit for each knapsack capacity from 0 to C (bottom up approach)</a:t>
            </a:r>
            <a:endParaRPr>
              <a:solidFill>
                <a:schemeClr val="dk1"/>
              </a:solidFill>
            </a:endParaRPr>
          </a:p>
          <a:p>
            <a:pPr marL="457200" lvl="0" indent="-298450" algn="l" rtl="0">
              <a:spcBef>
                <a:spcPts val="0"/>
              </a:spcBef>
              <a:spcAft>
                <a:spcPts val="0"/>
              </a:spcAft>
              <a:buClr>
                <a:schemeClr val="dk1"/>
              </a:buClr>
              <a:buSzPts val="1100"/>
              <a:buChar char="-"/>
            </a:pPr>
            <a:r>
              <a:rPr lang="en-GB">
                <a:solidFill>
                  <a:schemeClr val="dk1"/>
                </a:solidFill>
              </a:rPr>
              <a:t>Go from the minimum capacity which is 1 to max which is 14</a:t>
            </a:r>
            <a:endParaRPr>
              <a:solidFill>
                <a:schemeClr val="dk1"/>
              </a:solidFill>
            </a:endParaRPr>
          </a:p>
          <a:p>
            <a:pPr marL="457200" lvl="0" indent="-298450" algn="l" rtl="0">
              <a:spcBef>
                <a:spcPts val="0"/>
              </a:spcBef>
              <a:spcAft>
                <a:spcPts val="0"/>
              </a:spcAft>
              <a:buClr>
                <a:schemeClr val="dk1"/>
              </a:buClr>
              <a:buSzPts val="1100"/>
              <a:buChar char="-"/>
            </a:pPr>
            <a:r>
              <a:rPr lang="en-GB">
                <a:solidFill>
                  <a:schemeClr val="dk1"/>
                </a:solidFill>
              </a:rPr>
              <a:t>The outer loop i iterates from 1 to C (max capacity)</a:t>
            </a:r>
            <a:endParaRPr>
              <a:solidFill>
                <a:schemeClr val="dk1"/>
              </a:solidFill>
            </a:endParaRPr>
          </a:p>
          <a:p>
            <a:pPr marL="457200" lvl="0" indent="-298450" algn="l" rtl="0">
              <a:spcBef>
                <a:spcPts val="0"/>
              </a:spcBef>
              <a:spcAft>
                <a:spcPts val="0"/>
              </a:spcAft>
              <a:buClr>
                <a:schemeClr val="dk1"/>
              </a:buClr>
              <a:buSzPts val="1100"/>
              <a:buChar char="-"/>
            </a:pPr>
            <a:r>
              <a:rPr lang="en-GB">
                <a:solidFill>
                  <a:schemeClr val="dk1"/>
                </a:solidFill>
              </a:rPr>
              <a:t>The inner loop checks to see if each item j to see if it can fit into the current capacity i</a:t>
            </a:r>
            <a:endParaRPr>
              <a:solidFill>
                <a:schemeClr val="dk1"/>
              </a:solidFill>
            </a:endParaRPr>
          </a:p>
          <a:p>
            <a:pPr marL="457200" lvl="0" indent="-298450" algn="l" rtl="0">
              <a:spcBef>
                <a:spcPts val="0"/>
              </a:spcBef>
              <a:spcAft>
                <a:spcPts val="0"/>
              </a:spcAft>
              <a:buClr>
                <a:schemeClr val="dk1"/>
              </a:buClr>
              <a:buSzPts val="1100"/>
              <a:buChar char="-"/>
            </a:pPr>
            <a:r>
              <a:rPr lang="en-GB">
                <a:solidFill>
                  <a:schemeClr val="dk1"/>
                </a:solidFill>
              </a:rPr>
              <a:t>If it fits, find the max profit between including and not including the item i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11ccb1829c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11ccb1829c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GB" dirty="0"/>
              <a:t>This slide contains code for the other functions</a:t>
            </a:r>
          </a:p>
          <a:p>
            <a:pPr marL="0" lvl="0" indent="0" algn="l">
              <a:spcBef>
                <a:spcPts val="0"/>
              </a:spcBef>
              <a:spcAft>
                <a:spcPts val="0"/>
              </a:spcAft>
              <a:buNone/>
            </a:pPr>
            <a:r>
              <a:rPr lang="en-GB" dirty="0"/>
              <a:t>Main function: initialises the weights as per question requirement of 4a and 4b</a:t>
            </a:r>
            <a:endParaRPr/>
          </a:p>
          <a:p>
            <a:pPr marL="0" lvl="0" indent="0" algn="l" rtl="0">
              <a:spcBef>
                <a:spcPts val="0"/>
              </a:spcBef>
              <a:spcAft>
                <a:spcPts val="0"/>
              </a:spcAft>
              <a:buNone/>
            </a:pPr>
            <a:r>
              <a:rPr lang="en-GB" dirty="0"/>
              <a:t>max : returns the maximum of 2 integers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311ccb1829c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311ccb1829c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This slide shows the running result of P(14) with weights and profits given in part (2) of the assignment pdf and also shows the running result of P(14) with weights and profits given in part (4) of the assignment pdf</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11ccb1829c_0_2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11ccb1829c_0_2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GB" dirty="0"/>
              <a:t>Thanks TA :D</a:t>
            </a: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26443" y="841772"/>
            <a:ext cx="5691116" cy="1965866"/>
          </a:xfrm>
        </p:spPr>
        <p:txBody>
          <a:bodyPr anchor="b">
            <a:normAutofit/>
          </a:bodyPr>
          <a:lstStyle>
            <a:lvl1pPr algn="ctr">
              <a:defRPr sz="7111"/>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726443" y="2882782"/>
            <a:ext cx="5691116" cy="1060568"/>
          </a:xfrm>
        </p:spPr>
        <p:txBody>
          <a:bodyPr>
            <a:normAutofit/>
          </a:bodyPr>
          <a:lstStyle>
            <a:lvl1pPr marL="0" indent="0" algn="ctr">
              <a:buNone/>
              <a:defRPr sz="3200"/>
            </a:lvl1pPr>
            <a:lvl2pPr marL="812810" indent="0" algn="ctr">
              <a:buNone/>
              <a:defRPr sz="3200"/>
            </a:lvl2pPr>
            <a:lvl3pPr marL="1625620" indent="0" algn="ctr">
              <a:buNone/>
              <a:defRPr sz="3200"/>
            </a:lvl3pPr>
            <a:lvl4pPr marL="2438430" indent="0" algn="ctr">
              <a:buNone/>
              <a:defRPr sz="2844"/>
            </a:lvl4pPr>
            <a:lvl5pPr marL="3251241" indent="0" algn="ctr">
              <a:buNone/>
              <a:defRPr sz="2844"/>
            </a:lvl5pPr>
            <a:lvl6pPr marL="4064051" indent="0" algn="ctr">
              <a:buNone/>
              <a:defRPr sz="2844"/>
            </a:lvl6pPr>
            <a:lvl7pPr marL="4876861" indent="0" algn="ctr">
              <a:buNone/>
              <a:defRPr sz="2844"/>
            </a:lvl7pPr>
            <a:lvl8pPr marL="5689671" indent="0" algn="ctr">
              <a:buNone/>
              <a:defRPr sz="2844"/>
            </a:lvl8pPr>
            <a:lvl9pPr marL="6502481" indent="0" algn="ctr">
              <a:buNone/>
              <a:defRPr sz="2844"/>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11/5/2025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600236035"/>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11/5/2025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582272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52536" y="415212"/>
            <a:ext cx="6204855" cy="3006644"/>
          </a:xfrm>
        </p:spPr>
        <p:txBody>
          <a:bodyPr anchor="t">
            <a:normAutofit/>
          </a:bodyPr>
          <a:lstStyle>
            <a:lvl1pPr>
              <a:defRPr sz="96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52535" y="3442098"/>
            <a:ext cx="6204855" cy="1038463"/>
          </a:xfrm>
        </p:spPr>
        <p:txBody>
          <a:bodyPr anchor="b">
            <a:normAutofit/>
          </a:bodyPr>
          <a:lstStyle>
            <a:lvl1pPr marL="0" indent="0">
              <a:buNone/>
              <a:defRPr sz="3556">
                <a:solidFill>
                  <a:schemeClr val="tx1"/>
                </a:solidFill>
              </a:defRPr>
            </a:lvl1pPr>
            <a:lvl2pPr marL="812810" indent="0">
              <a:buNone/>
              <a:defRPr sz="3556">
                <a:solidFill>
                  <a:schemeClr val="tx1">
                    <a:tint val="75000"/>
                  </a:schemeClr>
                </a:solidFill>
              </a:defRPr>
            </a:lvl2pPr>
            <a:lvl3pPr marL="1625620" indent="0">
              <a:buNone/>
              <a:defRPr sz="3200">
                <a:solidFill>
                  <a:schemeClr val="tx1">
                    <a:tint val="75000"/>
                  </a:schemeClr>
                </a:solidFill>
              </a:defRPr>
            </a:lvl3pPr>
            <a:lvl4pPr marL="2438430" indent="0">
              <a:buNone/>
              <a:defRPr sz="2844">
                <a:solidFill>
                  <a:schemeClr val="tx1">
                    <a:tint val="75000"/>
                  </a:schemeClr>
                </a:solidFill>
              </a:defRPr>
            </a:lvl4pPr>
            <a:lvl5pPr marL="3251241" indent="0">
              <a:buNone/>
              <a:defRPr sz="2844">
                <a:solidFill>
                  <a:schemeClr val="tx1">
                    <a:tint val="75000"/>
                  </a:schemeClr>
                </a:solidFill>
              </a:defRPr>
            </a:lvl5pPr>
            <a:lvl6pPr marL="4064051" indent="0">
              <a:buNone/>
              <a:defRPr sz="2844">
                <a:solidFill>
                  <a:schemeClr val="tx1">
                    <a:tint val="75000"/>
                  </a:schemeClr>
                </a:solidFill>
              </a:defRPr>
            </a:lvl6pPr>
            <a:lvl7pPr marL="4876861" indent="0">
              <a:buNone/>
              <a:defRPr sz="2844">
                <a:solidFill>
                  <a:schemeClr val="tx1">
                    <a:tint val="75000"/>
                  </a:schemeClr>
                </a:solidFill>
              </a:defRPr>
            </a:lvl7pPr>
            <a:lvl8pPr marL="5689671" indent="0">
              <a:buNone/>
              <a:defRPr sz="2844">
                <a:solidFill>
                  <a:schemeClr val="tx1">
                    <a:tint val="75000"/>
                  </a:schemeClr>
                </a:solidFill>
              </a:defRPr>
            </a:lvl8pPr>
            <a:lvl9pPr marL="6502481" indent="0">
              <a:buNone/>
              <a:defRPr sz="2844">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11/5/2025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119658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411480"/>
            <a:ext cx="8055864" cy="84919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459486" y="1369219"/>
            <a:ext cx="3886200" cy="3263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4629150" y="1369219"/>
            <a:ext cx="3886200" cy="3263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11/5/2025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476469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410547"/>
            <a:ext cx="8059341" cy="857469"/>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1" y="1264301"/>
            <a:ext cx="3868340" cy="419876"/>
          </a:xfrm>
        </p:spPr>
        <p:txBody>
          <a:bodyPr anchor="b">
            <a:normAutofit/>
          </a:bodyPr>
          <a:lstStyle>
            <a:lvl1pPr marL="0" indent="0">
              <a:lnSpc>
                <a:spcPct val="90000"/>
              </a:lnSpc>
              <a:buNone/>
              <a:defRPr sz="3556" b="1" cap="all"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457201" y="1790171"/>
            <a:ext cx="3868340" cy="28238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29150" y="1264301"/>
            <a:ext cx="3887391" cy="419876"/>
          </a:xfrm>
        </p:spPr>
        <p:txBody>
          <a:bodyPr anchor="b">
            <a:normAutofit/>
          </a:bodyPr>
          <a:lstStyle>
            <a:lvl1pPr marL="0" indent="0">
              <a:lnSpc>
                <a:spcPct val="90000"/>
              </a:lnSpc>
              <a:buNone/>
              <a:defRPr sz="3556" b="1" cap="all" baseline="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4629150" y="1790171"/>
            <a:ext cx="3887392" cy="282381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11/5/2025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1739675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11/5/2025</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174712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11/5/2025</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011870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47870" y="415212"/>
            <a:ext cx="2696726" cy="1318129"/>
          </a:xfrm>
        </p:spPr>
        <p:txBody>
          <a:bodyPr anchor="t">
            <a:normAutofit/>
          </a:bodyPr>
          <a:lstStyle>
            <a:lvl1pPr>
              <a:defRPr sz="4978"/>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3851031" y="415212"/>
            <a:ext cx="4709806" cy="4114800"/>
          </a:xfrm>
        </p:spPr>
        <p:txBody>
          <a:bodyPr>
            <a:normAutofit/>
          </a:bodyPr>
          <a:lstStyle>
            <a:lvl1pPr>
              <a:defRPr sz="4978"/>
            </a:lvl1pPr>
            <a:lvl2pPr>
              <a:defRPr sz="4267"/>
            </a:lvl2pPr>
            <a:lvl3pPr>
              <a:defRPr sz="3556"/>
            </a:lvl3pPr>
            <a:lvl4pPr>
              <a:defRPr sz="3200"/>
            </a:lvl4pPr>
            <a:lvl5pPr>
              <a:defRPr sz="3200"/>
            </a:lvl5pPr>
            <a:lvl6pPr>
              <a:defRPr sz="3200"/>
            </a:lvl6pPr>
            <a:lvl7pPr>
              <a:defRPr sz="3200"/>
            </a:lvl7pPr>
            <a:lvl8pPr>
              <a:defRPr sz="3200"/>
            </a:lvl8pPr>
            <a:lvl9pPr>
              <a:defRPr sz="3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47870" y="1733341"/>
            <a:ext cx="2696726" cy="2796671"/>
          </a:xfrm>
        </p:spPr>
        <p:txBody>
          <a:bodyPr anchor="t">
            <a:normAutofit/>
          </a:bodyPr>
          <a:lstStyle>
            <a:lvl1pPr marL="0" indent="0">
              <a:buNone/>
              <a:defRPr sz="3200"/>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11/5/2025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058508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45770" y="418338"/>
            <a:ext cx="2696726" cy="1659235"/>
          </a:xfrm>
        </p:spPr>
        <p:txBody>
          <a:bodyPr anchor="t">
            <a:normAutofit/>
          </a:bodyPr>
          <a:lstStyle>
            <a:lvl1pPr>
              <a:defRPr sz="4978"/>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3797490" y="492827"/>
            <a:ext cx="4862765" cy="4166928"/>
          </a:xfrm>
        </p:spPr>
        <p:txBody>
          <a:bodyPr anchor="t"/>
          <a:lstStyle>
            <a:lvl1pPr marL="0" indent="0">
              <a:buNone/>
              <a:defRPr sz="5689"/>
            </a:lvl1pPr>
            <a:lvl2pPr marL="812810" indent="0">
              <a:buNone/>
              <a:defRPr sz="4978"/>
            </a:lvl2pPr>
            <a:lvl3pPr marL="1625620" indent="0">
              <a:buNone/>
              <a:defRPr sz="4267"/>
            </a:lvl3pPr>
            <a:lvl4pPr marL="2438430" indent="0">
              <a:buNone/>
              <a:defRPr sz="3556"/>
            </a:lvl4pPr>
            <a:lvl5pPr marL="3251241" indent="0">
              <a:buNone/>
              <a:defRPr sz="3556"/>
            </a:lvl5pPr>
            <a:lvl6pPr marL="4064051" indent="0">
              <a:buNone/>
              <a:defRPr sz="3556"/>
            </a:lvl6pPr>
            <a:lvl7pPr marL="4876861" indent="0">
              <a:buNone/>
              <a:defRPr sz="3556"/>
            </a:lvl7pPr>
            <a:lvl8pPr marL="5689671" indent="0">
              <a:buNone/>
              <a:defRPr sz="3556"/>
            </a:lvl8pPr>
            <a:lvl9pPr marL="6502481" indent="0">
              <a:buNone/>
              <a:defRPr sz="3556"/>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1" y="2119603"/>
            <a:ext cx="2689190" cy="2575979"/>
          </a:xfrm>
        </p:spPr>
        <p:txBody>
          <a:bodyPr anchor="b"/>
          <a:lstStyle>
            <a:lvl1pPr marL="0" indent="0">
              <a:buNone/>
              <a:defRPr sz="2844"/>
            </a:lvl1pPr>
            <a:lvl2pPr marL="812810" indent="0">
              <a:buNone/>
              <a:defRPr sz="2489"/>
            </a:lvl2pPr>
            <a:lvl3pPr marL="1625620" indent="0">
              <a:buNone/>
              <a:defRPr sz="2133"/>
            </a:lvl3pPr>
            <a:lvl4pPr marL="2438430" indent="0">
              <a:buNone/>
              <a:defRPr sz="1778"/>
            </a:lvl4pPr>
            <a:lvl5pPr marL="3251241" indent="0">
              <a:buNone/>
              <a:defRPr sz="1778"/>
            </a:lvl5pPr>
            <a:lvl6pPr marL="4064051" indent="0">
              <a:buNone/>
              <a:defRPr sz="1778"/>
            </a:lvl6pPr>
            <a:lvl7pPr marL="4876861" indent="0">
              <a:buNone/>
              <a:defRPr sz="1778"/>
            </a:lvl7pPr>
            <a:lvl8pPr marL="5689671" indent="0">
              <a:buNone/>
              <a:defRPr sz="1778"/>
            </a:lvl8pPr>
            <a:lvl9pPr marL="6502481" indent="0">
              <a:buNone/>
              <a:defRPr sz="1778"/>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11/5/2025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154026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459486" y="411480"/>
            <a:ext cx="7886700" cy="849194"/>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459486" y="1260674"/>
            <a:ext cx="7886700" cy="337204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11/5/2025</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63282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7226166" y="433873"/>
            <a:ext cx="1535278" cy="4198850"/>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628650" y="433873"/>
            <a:ext cx="6597516" cy="419884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11/5/2025</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2348926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extLst>
      <p:ext uri="{BB962C8B-B14F-4D97-AF65-F5344CB8AC3E}">
        <p14:creationId xmlns:p14="http://schemas.microsoft.com/office/powerpoint/2010/main" val="3817063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9486" y="411480"/>
            <a:ext cx="7990184" cy="84919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9486" y="1286649"/>
            <a:ext cx="7990184" cy="344537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2870" y="4839752"/>
            <a:ext cx="2620736" cy="273844"/>
          </a:xfrm>
          <a:prstGeom prst="rect">
            <a:avLst/>
          </a:prstGeom>
        </p:spPr>
        <p:txBody>
          <a:bodyPr vert="horz" lIns="91440" tIns="45720" rIns="91440" bIns="45720" rtlCol="0" anchor="ctr"/>
          <a:lstStyle>
            <a:lvl1pPr algn="l">
              <a:defRPr sz="1600">
                <a:solidFill>
                  <a:schemeClr val="tx1"/>
                </a:solidFill>
              </a:defRPr>
            </a:lvl1pPr>
          </a:lstStyle>
          <a:p>
            <a:fld id="{3A332BE1-279E-4118-9FE3-7952B079A510}" type="datetimeFigureOut">
              <a:rPr lang="en-US" dirty="0"/>
              <a:t>11/5/2025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657391" y="4839752"/>
            <a:ext cx="2104054" cy="273844"/>
          </a:xfrm>
          <a:prstGeom prst="rect">
            <a:avLst/>
          </a:prstGeom>
        </p:spPr>
        <p:txBody>
          <a:bodyPr vert="horz" lIns="91440" tIns="45720" rIns="91440" bIns="45720" rtlCol="0" anchor="ctr"/>
          <a:lstStyle>
            <a:lvl1pPr algn="r">
              <a:defRPr sz="16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724122" y="4839752"/>
            <a:ext cx="321905" cy="273844"/>
          </a:xfrm>
          <a:prstGeom prst="rect">
            <a:avLst/>
          </a:prstGeom>
        </p:spPr>
        <p:txBody>
          <a:bodyPr vert="horz" lIns="91440" tIns="45720" rIns="91440" bIns="45720" rtlCol="0" anchor="ctr"/>
          <a:lstStyle>
            <a:lvl1pPr algn="r">
              <a:defRPr sz="16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4147014799"/>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1620" userDrawn="1">
          <p15:clr>
            <a:srgbClr val="F26B43"/>
          </p15:clr>
        </p15:guide>
        <p15:guide id="6"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2308443" y="1346426"/>
            <a:ext cx="4526837" cy="15372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GB" dirty="0"/>
              <a:t>SC2001 Project 3</a:t>
            </a:r>
            <a:endParaRPr dirty="0"/>
          </a:p>
        </p:txBody>
      </p:sp>
      <p:sp>
        <p:nvSpPr>
          <p:cNvPr id="67" name="Google Shape;67;p13"/>
          <p:cNvSpPr txBox="1">
            <a:spLocks noGrp="1"/>
          </p:cNvSpPr>
          <p:nvPr>
            <p:ph type="subTitle" idx="1"/>
          </p:nvPr>
        </p:nvSpPr>
        <p:spPr>
          <a:prstGeom prst="rect">
            <a:avLst/>
          </a:prstGeom>
        </p:spPr>
        <p:txBody>
          <a:bodyPr spcFirstLastPara="1" wrap="square" lIns="91425" tIns="91425" rIns="91425" bIns="91425" anchor="t" anchorCtr="0">
            <a:normAutofit fontScale="77500" lnSpcReduction="20000"/>
          </a:bodyPr>
          <a:lstStyle/>
          <a:p>
            <a:pPr marL="0" indent="0"/>
            <a:r>
              <a:rPr lang="en-GB" sz="2000" dirty="0">
                <a:latin typeface="Poppins"/>
                <a:ea typeface="Poppins"/>
                <a:cs typeface="Poppins"/>
              </a:rPr>
              <a:t>Team 8: Jun Meng, Spencer, Kai Xin</a:t>
            </a:r>
          </a:p>
          <a:p>
            <a:r>
              <a:rPr lang="en-GB" sz="2000" dirty="0">
                <a:latin typeface="Poppins"/>
                <a:ea typeface="Poppins"/>
                <a:cs typeface="Poppins"/>
              </a:rPr>
              <a:t>P.S: Some slides have notes which contains more info</a:t>
            </a:r>
            <a:endParaRPr lang="en-GB" sz="2000" dirty="0">
              <a:latin typeface="Poppins"/>
              <a:cs typeface="Poppins"/>
            </a:endParaRPr>
          </a:p>
          <a:p>
            <a:pPr>
              <a:spcBef>
                <a:spcPts val="0"/>
              </a:spcBef>
            </a:pP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Table of Contents</a:t>
            </a:r>
            <a:endParaRPr/>
          </a:p>
        </p:txBody>
      </p:sp>
      <p:sp>
        <p:nvSpPr>
          <p:cNvPr id="73" name="Google Shape;73;p14"/>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GB"/>
              <a:t>1. Recursive Definition of P(C)</a:t>
            </a:r>
            <a:endParaRPr/>
          </a:p>
          <a:p>
            <a:pPr marL="0" lvl="0" indent="0" algn="l" rtl="0">
              <a:spcBef>
                <a:spcPts val="1200"/>
              </a:spcBef>
              <a:spcAft>
                <a:spcPts val="0"/>
              </a:spcAft>
              <a:buNone/>
            </a:pPr>
            <a:r>
              <a:rPr lang="en-GB"/>
              <a:t>2. Subproblem Graph for P(14) with Given Weights and Profits</a:t>
            </a:r>
            <a:endParaRPr/>
          </a:p>
          <a:p>
            <a:pPr marL="0" lvl="0" indent="0" algn="l" rtl="0">
              <a:spcBef>
                <a:spcPts val="1200"/>
              </a:spcBef>
              <a:spcAft>
                <a:spcPts val="0"/>
              </a:spcAft>
              <a:buNone/>
            </a:pPr>
            <a:r>
              <a:rPr lang="en-GB"/>
              <a:t>3. Bottom-Up Dynamic Programming Algorithm</a:t>
            </a:r>
            <a:endParaRPr/>
          </a:p>
          <a:p>
            <a:pPr marL="0" lvl="0" indent="0" algn="l" rtl="0">
              <a:spcBef>
                <a:spcPts val="1200"/>
              </a:spcBef>
              <a:spcAft>
                <a:spcPts val="0"/>
              </a:spcAft>
              <a:buNone/>
            </a:pPr>
            <a:r>
              <a:rPr lang="en-GB"/>
              <a:t>4. Algorithm Implementation in C</a:t>
            </a:r>
            <a:endParaRPr/>
          </a:p>
          <a:p>
            <a:pPr marL="0" lvl="0" indent="0" algn="l" rtl="0">
              <a:spcBef>
                <a:spcPts val="1200"/>
              </a:spcBef>
              <a:spcAft>
                <a:spcPts val="0"/>
              </a:spcAft>
              <a:buNone/>
            </a:pPr>
            <a:endParaRPr/>
          </a:p>
          <a:p>
            <a:pPr marL="0" lvl="0" indent="0" algn="l" rtl="0">
              <a:spcBef>
                <a:spcPts val="1200"/>
              </a:spcBef>
              <a:spcAft>
                <a:spcPts val="0"/>
              </a:spcAft>
              <a:buClr>
                <a:schemeClr val="dk1"/>
              </a:buClr>
              <a:buSzPts val="1100"/>
              <a:buFont typeface="Arial"/>
              <a:buNone/>
            </a:pPr>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Knapsack Problem</a:t>
            </a:r>
            <a:endParaRPr/>
          </a:p>
        </p:txBody>
      </p:sp>
      <p:sp>
        <p:nvSpPr>
          <p:cNvPr id="79" name="Google Shape;79;p15"/>
          <p:cNvSpPr txBox="1">
            <a:spLocks noGrp="1"/>
          </p:cNvSpPr>
          <p:nvPr>
            <p:ph type="body" idx="1"/>
          </p:nvPr>
        </p:nvSpPr>
        <p:spPr>
          <a:xfrm>
            <a:off x="311700" y="1266325"/>
            <a:ext cx="6079200" cy="33027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GB" sz="1400"/>
              <a:t>Maximise the value of items packed into a knapsack with a limited capacity </a:t>
            </a:r>
            <a:r>
              <a:rPr lang="en-GB" sz="1400" i="1"/>
              <a:t>C</a:t>
            </a:r>
            <a:endParaRPr sz="1400" i="1"/>
          </a:p>
          <a:p>
            <a:pPr marL="914400" lvl="1" indent="-317500" algn="l" rtl="0">
              <a:spcBef>
                <a:spcPts val="0"/>
              </a:spcBef>
              <a:spcAft>
                <a:spcPts val="0"/>
              </a:spcAft>
              <a:buSzPts val="1400"/>
              <a:buChar char="○"/>
            </a:pPr>
            <a:r>
              <a:rPr lang="en-GB"/>
              <a:t>You have a set of 𝑛 items, each with:</a:t>
            </a:r>
            <a:endParaRPr/>
          </a:p>
          <a:p>
            <a:pPr marL="1371600" lvl="2" indent="-317500" algn="l" rtl="0">
              <a:spcBef>
                <a:spcPts val="0"/>
              </a:spcBef>
              <a:spcAft>
                <a:spcPts val="0"/>
              </a:spcAft>
              <a:buSzPts val="1400"/>
              <a:buChar char="■"/>
            </a:pPr>
            <a:r>
              <a:rPr lang="en-GB"/>
              <a:t>A weight 𝑤</a:t>
            </a:r>
            <a:r>
              <a:rPr lang="en-GB" baseline="-25000"/>
              <a:t>𝑖</a:t>
            </a:r>
            <a:r>
              <a:rPr lang="en-GB"/>
              <a:t>  (how much it "weighs" or consumes space in the knapsack)</a:t>
            </a:r>
            <a:endParaRPr/>
          </a:p>
          <a:p>
            <a:pPr marL="1371600" lvl="2" indent="-317500" algn="l" rtl="0">
              <a:spcBef>
                <a:spcPts val="0"/>
              </a:spcBef>
              <a:spcAft>
                <a:spcPts val="0"/>
              </a:spcAft>
              <a:buSzPts val="1400"/>
              <a:buChar char="■"/>
            </a:pPr>
            <a:r>
              <a:rPr lang="en-GB"/>
              <a:t>A profit or value 𝑝</a:t>
            </a:r>
            <a:r>
              <a:rPr lang="en-GB" baseline="-25000"/>
              <a:t>𝑖 </a:t>
            </a:r>
            <a:r>
              <a:rPr lang="en-GB"/>
              <a:t>(how much it contributes to the total value when packed)</a:t>
            </a:r>
            <a:endParaRPr/>
          </a:p>
          <a:p>
            <a:pPr marL="1371600" lvl="0" indent="0" algn="l" rtl="0">
              <a:spcBef>
                <a:spcPts val="1200"/>
              </a:spcBef>
              <a:spcAft>
                <a:spcPts val="0"/>
              </a:spcAft>
              <a:buNone/>
            </a:pPr>
            <a:endParaRPr/>
          </a:p>
          <a:p>
            <a:pPr marL="457200" lvl="0" indent="-317500" algn="l" rtl="0">
              <a:spcBef>
                <a:spcPts val="1200"/>
              </a:spcBef>
              <a:spcAft>
                <a:spcPts val="0"/>
              </a:spcAft>
              <a:buSzPts val="1400"/>
              <a:buChar char="●"/>
            </a:pPr>
            <a:r>
              <a:rPr lang="en-GB" sz="1400"/>
              <a:t>Unbounded Knapsack Problem</a:t>
            </a:r>
            <a:endParaRPr sz="1400"/>
          </a:p>
          <a:p>
            <a:pPr marL="914400" lvl="1" indent="-317500" algn="l" rtl="0">
              <a:spcBef>
                <a:spcPts val="0"/>
              </a:spcBef>
              <a:spcAft>
                <a:spcPts val="0"/>
              </a:spcAft>
              <a:buSzPts val="1400"/>
              <a:buChar char="○"/>
            </a:pPr>
            <a:r>
              <a:rPr lang="en-GB"/>
              <a:t>Unlimited supplies of each type, as long as weight does not exceed capacity </a:t>
            </a:r>
            <a:r>
              <a:rPr lang="en-GB" i="1"/>
              <a:t>C</a:t>
            </a:r>
            <a:r>
              <a:rPr lang="en-GB" sz="1400"/>
              <a:t> </a:t>
            </a:r>
            <a:endParaRPr sz="1400"/>
          </a:p>
          <a:p>
            <a:pPr marL="0" lvl="0" indent="0" algn="l" rtl="0">
              <a:spcBef>
                <a:spcPts val="1200"/>
              </a:spcBef>
              <a:spcAft>
                <a:spcPts val="1200"/>
              </a:spcAft>
              <a:buNone/>
            </a:pPr>
            <a:endParaRPr/>
          </a:p>
        </p:txBody>
      </p:sp>
      <p:pic>
        <p:nvPicPr>
          <p:cNvPr id="80" name="Google Shape;80;p15"/>
          <p:cNvPicPr preferRelativeResize="0"/>
          <p:nvPr/>
        </p:nvPicPr>
        <p:blipFill>
          <a:blip r:embed="rId3">
            <a:alphaModFix/>
          </a:blip>
          <a:stretch>
            <a:fillRect/>
          </a:stretch>
        </p:blipFill>
        <p:spPr>
          <a:xfrm>
            <a:off x="6295325" y="1764950"/>
            <a:ext cx="2802593" cy="19718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533150"/>
            <a:ext cx="8520600" cy="831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990"/>
              <a:buFont typeface="Arial"/>
              <a:buNone/>
            </a:pPr>
            <a:r>
              <a:rPr lang="en-GB" sz="2120">
                <a:latin typeface="Open Sans"/>
                <a:ea typeface="Open Sans"/>
                <a:cs typeface="Open Sans"/>
                <a:sym typeface="Open Sans"/>
              </a:rPr>
              <a:t>1. Recursive Definition of P(C)</a:t>
            </a:r>
            <a:endParaRPr sz="2120">
              <a:latin typeface="Open Sans"/>
              <a:ea typeface="Open Sans"/>
              <a:cs typeface="Open Sans"/>
              <a:sym typeface="Open Sans"/>
            </a:endParaRPr>
          </a:p>
          <a:p>
            <a:pPr marL="0" lvl="0" indent="0" algn="l" rtl="0">
              <a:spcBef>
                <a:spcPts val="1200"/>
              </a:spcBef>
              <a:spcAft>
                <a:spcPts val="0"/>
              </a:spcAft>
              <a:buSzPts val="990"/>
              <a:buNone/>
            </a:pPr>
            <a:endParaRPr sz="1620">
              <a:latin typeface="Open Sans"/>
              <a:ea typeface="Open Sans"/>
              <a:cs typeface="Open Sans"/>
              <a:sym typeface="Open Sans"/>
            </a:endParaRPr>
          </a:p>
        </p:txBody>
      </p:sp>
      <p:sp>
        <p:nvSpPr>
          <p:cNvPr id="86" name="Google Shape;86;p16"/>
          <p:cNvSpPr txBox="1">
            <a:spLocks noGrp="1"/>
          </p:cNvSpPr>
          <p:nvPr>
            <p:ph type="body" idx="1"/>
          </p:nvPr>
        </p:nvSpPr>
        <p:spPr>
          <a:xfrm>
            <a:off x="311700" y="1115377"/>
            <a:ext cx="8520600" cy="16662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GB"/>
              <a:t>The maximum profit obtainable for a knapsack with capacity </a:t>
            </a:r>
            <a:r>
              <a:rPr lang="en-GB" i="1"/>
              <a:t>C</a:t>
            </a:r>
            <a:r>
              <a:rPr lang="en-GB"/>
              <a:t>, is based on the choice of whether to include an object type </a:t>
            </a:r>
            <a:r>
              <a:rPr lang="en-GB" i="1"/>
              <a:t>i </a:t>
            </a:r>
            <a:r>
              <a:rPr lang="en-GB"/>
              <a:t>in the knapsack</a:t>
            </a:r>
            <a:endParaRPr/>
          </a:p>
          <a:p>
            <a:pPr marL="457200" lvl="0" indent="-325755" algn="l" rtl="0">
              <a:spcBef>
                <a:spcPts val="1200"/>
              </a:spcBef>
              <a:spcAft>
                <a:spcPts val="0"/>
              </a:spcAft>
              <a:buSzPct val="100000"/>
              <a:buChar char="●"/>
            </a:pPr>
            <a:r>
              <a:rPr lang="en-GB"/>
              <a:t>Unlimited supplies of each object type → can include an object of type </a:t>
            </a:r>
            <a:r>
              <a:rPr lang="en-GB" i="1"/>
              <a:t>i </a:t>
            </a:r>
            <a:r>
              <a:rPr lang="en-GB"/>
              <a:t>as many times as the capacity allows </a:t>
            </a:r>
            <a:endParaRPr/>
          </a:p>
          <a:p>
            <a:pPr marL="0" lvl="0" indent="0" algn="l" rtl="0">
              <a:spcBef>
                <a:spcPts val="1200"/>
              </a:spcBef>
              <a:spcAft>
                <a:spcPts val="1200"/>
              </a:spcAft>
              <a:buNone/>
            </a:pPr>
            <a:endParaRPr/>
          </a:p>
        </p:txBody>
      </p:sp>
      <p:pic>
        <p:nvPicPr>
          <p:cNvPr id="87" name="Google Shape;87;p16"/>
          <p:cNvPicPr preferRelativeResize="0"/>
          <p:nvPr/>
        </p:nvPicPr>
        <p:blipFill>
          <a:blip r:embed="rId3">
            <a:alphaModFix/>
          </a:blip>
          <a:stretch>
            <a:fillRect/>
          </a:stretch>
        </p:blipFill>
        <p:spPr>
          <a:xfrm>
            <a:off x="5409950" y="2972772"/>
            <a:ext cx="3753101" cy="1361103"/>
          </a:xfrm>
          <a:prstGeom prst="rect">
            <a:avLst/>
          </a:prstGeom>
          <a:noFill/>
          <a:ln>
            <a:noFill/>
          </a:ln>
        </p:spPr>
      </p:pic>
      <p:pic>
        <p:nvPicPr>
          <p:cNvPr id="88" name="Google Shape;88;p16"/>
          <p:cNvPicPr preferRelativeResize="0"/>
          <p:nvPr/>
        </p:nvPicPr>
        <p:blipFill>
          <a:blip r:embed="rId4">
            <a:alphaModFix/>
          </a:blip>
          <a:stretch>
            <a:fillRect/>
          </a:stretch>
        </p:blipFill>
        <p:spPr>
          <a:xfrm>
            <a:off x="133725" y="2412275"/>
            <a:ext cx="5112900" cy="2571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0"/>
              </a:spcBef>
              <a:spcAft>
                <a:spcPts val="0"/>
              </a:spcAft>
              <a:buClr>
                <a:srgbClr val="000000"/>
              </a:buClr>
              <a:buSzPct val="46698"/>
              <a:buFont typeface="Arial"/>
              <a:buNone/>
            </a:pPr>
            <a:r>
              <a:rPr lang="en-GB" sz="2120">
                <a:latin typeface="Open Sans"/>
                <a:ea typeface="Open Sans"/>
                <a:cs typeface="Open Sans"/>
                <a:sym typeface="Open Sans"/>
              </a:rPr>
              <a:t>Recursive Formula</a:t>
            </a:r>
            <a:endParaRPr sz="2120">
              <a:latin typeface="Open Sans"/>
              <a:ea typeface="Open Sans"/>
              <a:cs typeface="Open Sans"/>
              <a:sym typeface="Open Sans"/>
            </a:endParaRPr>
          </a:p>
          <a:p>
            <a:pPr marL="0" lvl="0" indent="0" algn="l" rtl="0">
              <a:spcBef>
                <a:spcPts val="1200"/>
              </a:spcBef>
              <a:spcAft>
                <a:spcPts val="0"/>
              </a:spcAft>
              <a:buNone/>
            </a:pPr>
            <a:endParaRPr/>
          </a:p>
        </p:txBody>
      </p:sp>
      <p:sp>
        <p:nvSpPr>
          <p:cNvPr id="94" name="Google Shape;94;p17"/>
          <p:cNvSpPr txBox="1">
            <a:spLocks noGrp="1"/>
          </p:cNvSpPr>
          <p:nvPr>
            <p:ph type="body" idx="1"/>
          </p:nvPr>
        </p:nvSpPr>
        <p:spPr>
          <a:xfrm>
            <a:off x="311700" y="920400"/>
            <a:ext cx="8520600" cy="39726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GB" dirty="0"/>
              <a:t>For any given capacity </a:t>
            </a:r>
            <a:r>
              <a:rPr lang="en-GB" i="1" dirty="0"/>
              <a:t>C</a:t>
            </a:r>
            <a:r>
              <a:rPr lang="en-GB" dirty="0"/>
              <a:t>, we have two choices for each item of type</a:t>
            </a:r>
            <a:r>
              <a:rPr lang="en-GB" i="1" dirty="0"/>
              <a:t> </a:t>
            </a:r>
            <a:r>
              <a:rPr lang="en-GB" i="1" dirty="0" err="1"/>
              <a:t>i</a:t>
            </a:r>
            <a:r>
              <a:rPr lang="en-GB" dirty="0"/>
              <a:t>:</a:t>
            </a:r>
            <a:endParaRPr dirty="0"/>
          </a:p>
          <a:p>
            <a:pPr marL="457200" lvl="0" indent="-334010" algn="l" rtl="0">
              <a:spcBef>
                <a:spcPts val="1200"/>
              </a:spcBef>
              <a:spcAft>
                <a:spcPts val="0"/>
              </a:spcAft>
              <a:buSzPct val="100000"/>
              <a:buAutoNum type="arabicPeriod"/>
            </a:pPr>
            <a:r>
              <a:rPr lang="en-GB" dirty="0"/>
              <a:t>Include the item</a:t>
            </a:r>
            <a:endParaRPr dirty="0"/>
          </a:p>
          <a:p>
            <a:pPr marL="457200" lvl="0" indent="-334010" algn="l" rtl="0">
              <a:spcBef>
                <a:spcPts val="0"/>
              </a:spcBef>
              <a:spcAft>
                <a:spcPts val="0"/>
              </a:spcAft>
              <a:buSzPct val="100000"/>
              <a:buChar char="●"/>
            </a:pPr>
            <a:r>
              <a:rPr lang="en-GB" dirty="0"/>
              <a:t>Add its profit </a:t>
            </a:r>
            <a:r>
              <a:rPr lang="en-GB" i="1" dirty="0"/>
              <a:t>p</a:t>
            </a:r>
            <a:r>
              <a:rPr lang="en-GB" i="1" baseline="-25000" dirty="0"/>
              <a:t>i</a:t>
            </a:r>
            <a:r>
              <a:rPr lang="en-GB" dirty="0"/>
              <a:t> to the maximum profit obtainable with the remaining capacity</a:t>
            </a:r>
            <a:r>
              <a:rPr lang="en-GB" i="1" dirty="0"/>
              <a:t> C - </a:t>
            </a:r>
            <a:r>
              <a:rPr lang="en-GB" i="1" dirty="0" err="1"/>
              <a:t>w</a:t>
            </a:r>
            <a:r>
              <a:rPr lang="en-GB" i="1" baseline="-25000" dirty="0" err="1"/>
              <a:t>i</a:t>
            </a:r>
            <a:r>
              <a:rPr lang="en-GB" i="1" dirty="0"/>
              <a:t> </a:t>
            </a:r>
            <a:endParaRPr dirty="0"/>
          </a:p>
          <a:p>
            <a:pPr marL="457200" lvl="0" indent="-334010" algn="l" rtl="0">
              <a:spcBef>
                <a:spcPts val="0"/>
              </a:spcBef>
              <a:spcAft>
                <a:spcPts val="0"/>
              </a:spcAft>
              <a:buSzPct val="100000"/>
              <a:buChar char="●"/>
            </a:pPr>
            <a:r>
              <a:rPr lang="en-GB" dirty="0"/>
              <a:t>Subproblem: P(</a:t>
            </a:r>
            <a:r>
              <a:rPr lang="en-GB" i="1" dirty="0"/>
              <a:t>C - </a:t>
            </a:r>
            <a:r>
              <a:rPr lang="en-GB" i="1" dirty="0" err="1"/>
              <a:t>w</a:t>
            </a:r>
            <a:r>
              <a:rPr lang="en-GB" i="1" baseline="-25000" dirty="0" err="1"/>
              <a:t>i</a:t>
            </a:r>
            <a:r>
              <a:rPr lang="en-GB" dirty="0"/>
              <a:t>) and the profit contributed by including item </a:t>
            </a:r>
            <a:r>
              <a:rPr lang="en-GB" i="1" dirty="0" err="1"/>
              <a:t>i</a:t>
            </a:r>
            <a:r>
              <a:rPr lang="en-GB" dirty="0"/>
              <a:t> is P(</a:t>
            </a:r>
            <a:r>
              <a:rPr lang="en-GB" i="1" dirty="0"/>
              <a:t>C - </a:t>
            </a:r>
            <a:r>
              <a:rPr lang="en-GB" i="1" dirty="0" err="1"/>
              <a:t>w</a:t>
            </a:r>
            <a:r>
              <a:rPr lang="en-GB" i="1" baseline="-25000" dirty="0" err="1"/>
              <a:t>i</a:t>
            </a:r>
            <a:r>
              <a:rPr lang="en-GB" dirty="0"/>
              <a:t>)</a:t>
            </a:r>
            <a:r>
              <a:rPr lang="en-GB" i="1" dirty="0"/>
              <a:t> </a:t>
            </a:r>
            <a:r>
              <a:rPr lang="en-GB" dirty="0"/>
              <a:t>+</a:t>
            </a:r>
            <a:r>
              <a:rPr lang="en-GB" i="1" dirty="0"/>
              <a:t> p</a:t>
            </a:r>
            <a:r>
              <a:rPr lang="en-GB" i="1" baseline="-25000" dirty="0"/>
              <a:t>i</a:t>
            </a:r>
            <a:endParaRPr i="1" baseline="-25000" dirty="0"/>
          </a:p>
          <a:p>
            <a:pPr marL="123190" indent="0">
              <a:buSzPct val="100000"/>
              <a:buNone/>
            </a:pPr>
            <a:r>
              <a:rPr lang="en-GB" dirty="0"/>
              <a:t>2.   Skip the item </a:t>
            </a:r>
            <a:endParaRPr dirty="0"/>
          </a:p>
          <a:p>
            <a:pPr marL="457200" lvl="0" indent="-334010" algn="l" rtl="0">
              <a:spcBef>
                <a:spcPts val="0"/>
              </a:spcBef>
              <a:spcAft>
                <a:spcPts val="0"/>
              </a:spcAft>
              <a:buSzPct val="100000"/>
              <a:buChar char="●"/>
            </a:pPr>
            <a:r>
              <a:rPr lang="en-GB" dirty="0"/>
              <a:t>Profit remains unchanged</a:t>
            </a:r>
            <a:endParaRPr dirty="0"/>
          </a:p>
          <a:p>
            <a:pPr marL="0" lvl="0" indent="0" algn="l" rtl="0">
              <a:spcBef>
                <a:spcPts val="1200"/>
              </a:spcBef>
              <a:spcAft>
                <a:spcPts val="0"/>
              </a:spcAft>
              <a:buNone/>
            </a:pPr>
            <a:r>
              <a:rPr lang="en-GB" dirty="0"/>
              <a:t>To find the optimal solution, take the maximum over all choices</a:t>
            </a:r>
            <a:endParaRPr dirty="0"/>
          </a:p>
          <a:p>
            <a:pPr marL="0" lvl="0" indent="0" algn="l" rtl="0">
              <a:spcBef>
                <a:spcPts val="1200"/>
              </a:spcBef>
              <a:spcAft>
                <a:spcPts val="0"/>
              </a:spcAft>
              <a:buNone/>
            </a:pPr>
            <a:r>
              <a:rPr lang="en-GB" dirty="0"/>
              <a:t>P(</a:t>
            </a:r>
            <a:r>
              <a:rPr lang="en-GB" i="1" dirty="0"/>
              <a:t>C</a:t>
            </a:r>
            <a:r>
              <a:rPr lang="en-GB" dirty="0"/>
              <a:t>) = max(P(</a:t>
            </a:r>
            <a:r>
              <a:rPr lang="en-GB" i="1" dirty="0"/>
              <a:t>C - </a:t>
            </a:r>
            <a:r>
              <a:rPr lang="en-GB" i="1" dirty="0" err="1"/>
              <a:t>w</a:t>
            </a:r>
            <a:r>
              <a:rPr lang="en-GB" i="1" baseline="-25000" dirty="0" err="1"/>
              <a:t>i</a:t>
            </a:r>
            <a:r>
              <a:rPr lang="en-GB" dirty="0"/>
              <a:t>) + </a:t>
            </a:r>
            <a:r>
              <a:rPr lang="en-GB" i="1" dirty="0"/>
              <a:t>p</a:t>
            </a:r>
            <a:r>
              <a:rPr lang="en-GB" i="1" baseline="-25000" dirty="0"/>
              <a:t>i</a:t>
            </a:r>
            <a:r>
              <a:rPr lang="en-GB" dirty="0"/>
              <a:t>) for all </a:t>
            </a:r>
            <a:r>
              <a:rPr lang="en-GB" i="1" dirty="0" err="1"/>
              <a:t>i</a:t>
            </a:r>
            <a:r>
              <a:rPr lang="en-GB" dirty="0"/>
              <a:t> such that </a:t>
            </a:r>
            <a:r>
              <a:rPr lang="en-GB" i="1" dirty="0" err="1"/>
              <a:t>w</a:t>
            </a:r>
            <a:r>
              <a:rPr lang="en-GB" i="1" baseline="-25000" dirty="0" err="1"/>
              <a:t>i</a:t>
            </a:r>
            <a:r>
              <a:rPr lang="en-GB" dirty="0"/>
              <a:t> &lt;= </a:t>
            </a:r>
            <a:r>
              <a:rPr lang="en-GB" i="1" dirty="0"/>
              <a:t>C</a:t>
            </a:r>
            <a:endParaRPr i="1" dirty="0"/>
          </a:p>
          <a:p>
            <a:pPr marL="0" lvl="0" indent="0" algn="l" rtl="0">
              <a:spcBef>
                <a:spcPts val="1200"/>
              </a:spcBef>
              <a:spcAft>
                <a:spcPts val="0"/>
              </a:spcAft>
              <a:buNone/>
            </a:pPr>
            <a:r>
              <a:rPr lang="en-GB" dirty="0"/>
              <a:t>The base case will be P(0) = 0</a:t>
            </a:r>
            <a:endParaRPr dirty="0"/>
          </a:p>
          <a:p>
            <a:pPr marL="0" lvl="0" indent="0" algn="l" rtl="0">
              <a:spcBef>
                <a:spcPts val="1200"/>
              </a:spcBef>
              <a:spcAft>
                <a:spcPts val="12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311700" y="435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2. Subproblem Graph for P(14)</a:t>
            </a:r>
            <a:endParaRPr/>
          </a:p>
        </p:txBody>
      </p:sp>
      <p:sp>
        <p:nvSpPr>
          <p:cNvPr id="100" name="Google Shape;100;p18"/>
          <p:cNvSpPr txBox="1">
            <a:spLocks noGrp="1"/>
          </p:cNvSpPr>
          <p:nvPr>
            <p:ph type="body" idx="1"/>
          </p:nvPr>
        </p:nvSpPr>
        <p:spPr>
          <a:xfrm>
            <a:off x="59150" y="1266325"/>
            <a:ext cx="1877100" cy="330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400"/>
              <a:t>Capacity C = 14</a:t>
            </a:r>
            <a:endParaRPr sz="1400"/>
          </a:p>
          <a:p>
            <a:pPr marL="0" lvl="0" indent="0" algn="l" rtl="0">
              <a:spcBef>
                <a:spcPts val="1200"/>
              </a:spcBef>
              <a:spcAft>
                <a:spcPts val="0"/>
              </a:spcAft>
              <a:buNone/>
            </a:pPr>
            <a:r>
              <a:rPr lang="en-GB" sz="1400"/>
              <a:t>Weights w = [4, 6, 8]</a:t>
            </a:r>
            <a:endParaRPr sz="1400"/>
          </a:p>
          <a:p>
            <a:pPr marL="0" lvl="0" indent="0" algn="l" rtl="0">
              <a:spcBef>
                <a:spcPts val="1200"/>
              </a:spcBef>
              <a:spcAft>
                <a:spcPts val="1200"/>
              </a:spcAft>
              <a:buNone/>
            </a:pPr>
            <a:r>
              <a:rPr lang="en-GB" sz="1400"/>
              <a:t>Profits p = [7, 6, 9]</a:t>
            </a:r>
            <a:endParaRPr sz="1400"/>
          </a:p>
        </p:txBody>
      </p:sp>
      <p:pic>
        <p:nvPicPr>
          <p:cNvPr id="101" name="Google Shape;101;p18"/>
          <p:cNvPicPr preferRelativeResize="0"/>
          <p:nvPr/>
        </p:nvPicPr>
        <p:blipFill>
          <a:blip r:embed="rId3">
            <a:alphaModFix/>
          </a:blip>
          <a:stretch>
            <a:fillRect/>
          </a:stretch>
        </p:blipFill>
        <p:spPr>
          <a:xfrm>
            <a:off x="2047875" y="695950"/>
            <a:ext cx="7162752" cy="42634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445025"/>
            <a:ext cx="8810614"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3. Bottom Up Dynamic Programming Algorithm</a:t>
            </a:r>
            <a:endParaRPr/>
          </a:p>
        </p:txBody>
      </p:sp>
      <p:pic>
        <p:nvPicPr>
          <p:cNvPr id="107" name="Google Shape;107;p19"/>
          <p:cNvPicPr preferRelativeResize="0"/>
          <p:nvPr/>
        </p:nvPicPr>
        <p:blipFill>
          <a:blip r:embed="rId3">
            <a:alphaModFix/>
          </a:blip>
          <a:stretch>
            <a:fillRect/>
          </a:stretch>
        </p:blipFill>
        <p:spPr>
          <a:xfrm>
            <a:off x="2548764" y="1283373"/>
            <a:ext cx="4967700" cy="36863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Other Functions</a:t>
            </a:r>
            <a:endParaRPr/>
          </a:p>
        </p:txBody>
      </p:sp>
      <p:pic>
        <p:nvPicPr>
          <p:cNvPr id="113" name="Google Shape;113;p20"/>
          <p:cNvPicPr preferRelativeResize="0"/>
          <p:nvPr/>
        </p:nvPicPr>
        <p:blipFill>
          <a:blip r:embed="rId3">
            <a:alphaModFix/>
          </a:blip>
          <a:stretch>
            <a:fillRect/>
          </a:stretch>
        </p:blipFill>
        <p:spPr>
          <a:xfrm>
            <a:off x="5282825" y="192638"/>
            <a:ext cx="3734775" cy="1212175"/>
          </a:xfrm>
          <a:prstGeom prst="rect">
            <a:avLst/>
          </a:prstGeom>
          <a:noFill/>
          <a:ln>
            <a:noFill/>
          </a:ln>
        </p:spPr>
      </p:pic>
      <p:pic>
        <p:nvPicPr>
          <p:cNvPr id="114" name="Google Shape;114;p20"/>
          <p:cNvPicPr preferRelativeResize="0"/>
          <p:nvPr/>
        </p:nvPicPr>
        <p:blipFill>
          <a:blip r:embed="rId4">
            <a:alphaModFix/>
          </a:blip>
          <a:stretch>
            <a:fillRect/>
          </a:stretch>
        </p:blipFill>
        <p:spPr>
          <a:xfrm>
            <a:off x="621400" y="1266325"/>
            <a:ext cx="7901199" cy="356762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Results</a:t>
            </a:r>
            <a:endParaRPr/>
          </a:p>
        </p:txBody>
      </p:sp>
      <p:pic>
        <p:nvPicPr>
          <p:cNvPr id="120" name="Google Shape;120;p21"/>
          <p:cNvPicPr preferRelativeResize="0"/>
          <p:nvPr/>
        </p:nvPicPr>
        <p:blipFill>
          <a:blip r:embed="rId3">
            <a:alphaModFix/>
          </a:blip>
          <a:stretch>
            <a:fillRect/>
          </a:stretch>
        </p:blipFill>
        <p:spPr>
          <a:xfrm>
            <a:off x="235850" y="1570975"/>
            <a:ext cx="8672276" cy="657675"/>
          </a:xfrm>
          <a:prstGeom prst="rect">
            <a:avLst/>
          </a:prstGeom>
          <a:noFill/>
          <a:ln>
            <a:noFill/>
          </a:ln>
        </p:spPr>
      </p:pic>
      <p:pic>
        <p:nvPicPr>
          <p:cNvPr id="121" name="Google Shape;121;p21"/>
          <p:cNvPicPr preferRelativeResize="0"/>
          <p:nvPr/>
        </p:nvPicPr>
        <p:blipFill>
          <a:blip r:embed="rId4">
            <a:alphaModFix/>
          </a:blip>
          <a:stretch>
            <a:fillRect/>
          </a:stretch>
        </p:blipFill>
        <p:spPr>
          <a:xfrm>
            <a:off x="235850" y="2690425"/>
            <a:ext cx="4205009" cy="2087550"/>
          </a:xfrm>
          <a:prstGeom prst="rect">
            <a:avLst/>
          </a:prstGeom>
          <a:noFill/>
          <a:ln>
            <a:noFill/>
          </a:ln>
        </p:spPr>
      </p:pic>
      <p:pic>
        <p:nvPicPr>
          <p:cNvPr id="122" name="Google Shape;122;p21"/>
          <p:cNvPicPr preferRelativeResize="0"/>
          <p:nvPr/>
        </p:nvPicPr>
        <p:blipFill>
          <a:blip r:embed="rId5">
            <a:alphaModFix/>
          </a:blip>
          <a:stretch>
            <a:fillRect/>
          </a:stretch>
        </p:blipFill>
        <p:spPr>
          <a:xfrm>
            <a:off x="4572009" y="2690425"/>
            <a:ext cx="4102490" cy="20875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title"/>
          </p:nvPr>
        </p:nvSpPr>
        <p:spPr>
          <a:xfrm>
            <a:off x="311700" y="2218050"/>
            <a:ext cx="8520600" cy="707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7200"/>
              <a:t>Thank you!</a:t>
            </a:r>
            <a:endParaRPr sz="7200"/>
          </a:p>
        </p:txBody>
      </p:sp>
    </p:spTree>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1</TotalTime>
  <Words>941</Words>
  <Application>Microsoft Office PowerPoint</Application>
  <PresentationFormat>On-screen Show (16:9)</PresentationFormat>
  <Paragraphs>52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Poppins</vt:lpstr>
      <vt:lpstr>Neue Haas Grotesk Text Pro</vt:lpstr>
      <vt:lpstr>Arial</vt:lpstr>
      <vt:lpstr>Open Sans</vt:lpstr>
      <vt:lpstr>VanillaVTI</vt:lpstr>
      <vt:lpstr>SC2001 Project 3</vt:lpstr>
      <vt:lpstr>Table of Contents</vt:lpstr>
      <vt:lpstr>Knapsack Problem</vt:lpstr>
      <vt:lpstr>1. Recursive Definition of P(C) </vt:lpstr>
      <vt:lpstr>Recursive Formula </vt:lpstr>
      <vt:lpstr>2. Subproblem Graph for P(14)</vt:lpstr>
      <vt:lpstr>3. Bottom Up Dynamic Programming Algorithm</vt:lpstr>
      <vt:lpstr>Other Functions</vt:lpstr>
      <vt:lpstr>Results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Spencer Ng</dc:creator>
  <cp:lastModifiedBy>#SPENCER NG WEN XUAN#</cp:lastModifiedBy>
  <cp:revision>50</cp:revision>
  <dcterms:modified xsi:type="dcterms:W3CDTF">2025-11-05T15:39:12Z</dcterms:modified>
</cp:coreProperties>
</file>